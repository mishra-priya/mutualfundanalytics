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BLUESTOCK FINTECH</a:t>
            </a:r>
          </a:p>
          <a:p>
            <a:pPr algn="ctr">
              <a:defRPr sz="2500" b="1">
                <a:solidFill>
                  <a:srgbClr val="FFFFFF"/>
                </a:solidFill>
              </a:defRPr>
            </a:pPr>
            <a:r>
              <a:t>Mutual Fund Analytics Platform</a:t>
            </a:r>
          </a:p>
          <a:p>
            <a:pPr algn="ctr">
              <a:defRPr sz="1600" b="0">
                <a:solidFill>
                  <a:srgbClr val="D7E6F2"/>
                </a:solidFill>
              </a:defRPr>
            </a:pPr>
            <a:r>
              <a:t>End-to-End Data Engineering, ETL Pipeline &amp; 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977639"/>
            <a:ext cx="85039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Prepared by: Priya Mishra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Mangalmay Institute of Engineering and Technology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Python | SQL | Power BI • Academic Year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Mutual-fund NAV, AUM, SIP and portfolio data is fragmented across different sources and formats.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Investors and analysts need a unified way to compare funds using risk-adjusted metrics.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Benchmark tracking and investor-behaviour analysis are difficult with static reports.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Objective: build an ETL-driven analytical platform with a relational data layer and interactive Power BI dashboard.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Key outputs: industry analysis, fund performance, investor analytics and SIP/market trends.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Data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120640" cy="96012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44F"/>
                </a:solidFill>
              </a:defRPr>
            </a:pPr>
            <a:r>
              <a:t>AMFI India</a:t>
            </a:r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t>NAV, AUM, Folio &amp; SIP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325880"/>
            <a:ext cx="5120640" cy="96012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44F"/>
                </a:solidFill>
              </a:defRPr>
            </a:pPr>
            <a:r>
              <a:t>mfapi.in</a:t>
            </a:r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t>Historical NAV via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51760"/>
            <a:ext cx="5120640" cy="96012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44F"/>
                </a:solidFill>
              </a:defRPr>
            </a:pPr>
            <a:r>
              <a:t>mfdata.in</a:t>
            </a:r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t>NAV &amp; expense-ratio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651760"/>
            <a:ext cx="5120640" cy="96012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44F"/>
                </a:solidFill>
              </a:defRPr>
            </a:pPr>
            <a:r>
              <a:t>NSE India</a:t>
            </a:r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t>Benchmark index prices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20640" cy="96012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44F"/>
                </a:solidFill>
              </a:defRPr>
            </a:pPr>
            <a:r>
              <a:t>BSE India</a:t>
            </a:r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t>BSE SmallCap benchmark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3977639"/>
            <a:ext cx="5120640" cy="96012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9344F"/>
                </a:solidFill>
              </a:defRPr>
            </a:pPr>
            <a:r>
              <a:t>AMFI Monthly Notes</a:t>
            </a:r>
          </a:p>
          <a:p>
            <a:pPr algn="ctr">
              <a:defRPr sz="1000">
                <a:solidFill>
                  <a:srgbClr val="646E78"/>
                </a:solidFill>
              </a:defRPr>
            </a:pPr>
            <a:r>
              <a:t>Industry SIP &amp; flow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32120"/>
            <a:ext cx="10515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9344F"/>
                </a:solidFill>
              </a:defRPr>
            </a:pPr>
            <a:r>
              <a:t>Dataset coverage: 40 schemes • ~46,000 NAV rows • 10 AMCs • 32,000+ transactions • 4.5+ years of NAV history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286000"/>
            <a:ext cx="1325880" cy="109728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44F"/>
                </a:solidFill>
              </a:defRPr>
            </a:pPr>
            <a:r>
              <a:t>Data Sources</a:t>
            </a:r>
          </a:p>
        </p:txBody>
      </p:sp>
      <p:sp>
        <p:nvSpPr>
          <p:cNvPr id="5" name="Chevron 4"/>
          <p:cNvSpPr/>
          <p:nvPr/>
        </p:nvSpPr>
        <p:spPr>
          <a:xfrm>
            <a:off x="1773936" y="2596896"/>
            <a:ext cx="256032" cy="411480"/>
          </a:xfrm>
          <a:prstGeom prst="chevron">
            <a:avLst/>
          </a:prstGeom>
          <a:solidFill>
            <a:srgbClr val="2D6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075688" y="2286000"/>
            <a:ext cx="1325880" cy="109728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44F"/>
                </a:solidFill>
              </a:defRPr>
            </a:pPr>
            <a:r>
              <a:t>Python / Pandas</a:t>
            </a:r>
            <a:br/>
            <a:r>
              <a:t>Extract</a:t>
            </a:r>
          </a:p>
        </p:txBody>
      </p:sp>
      <p:sp>
        <p:nvSpPr>
          <p:cNvPr id="7" name="Chevron 6"/>
          <p:cNvSpPr/>
          <p:nvPr/>
        </p:nvSpPr>
        <p:spPr>
          <a:xfrm>
            <a:off x="3438144" y="2596896"/>
            <a:ext cx="256032" cy="411480"/>
          </a:xfrm>
          <a:prstGeom prst="chevron">
            <a:avLst/>
          </a:prstGeom>
          <a:solidFill>
            <a:srgbClr val="2D6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739896" y="2286000"/>
            <a:ext cx="1325880" cy="109728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44F"/>
                </a:solidFill>
              </a:defRPr>
            </a:pPr>
            <a:r>
              <a:t>Cleaning &amp;</a:t>
            </a:r>
            <a:br/>
            <a:r>
              <a:t>Validation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5102352" y="2596896"/>
            <a:ext cx="256032" cy="411480"/>
          </a:xfrm>
          <a:prstGeom prst="chevron">
            <a:avLst/>
          </a:prstGeom>
          <a:solidFill>
            <a:srgbClr val="2D6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04104" y="2286000"/>
            <a:ext cx="1325880" cy="109728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44F"/>
                </a:solidFill>
              </a:defRPr>
            </a:pPr>
            <a:r>
              <a:t>Transform &amp;</a:t>
            </a:r>
            <a:br/>
            <a:r>
              <a:t>Enrich</a:t>
            </a:r>
          </a:p>
        </p:txBody>
      </p:sp>
      <p:sp>
        <p:nvSpPr>
          <p:cNvPr id="11" name="Chevron 10"/>
          <p:cNvSpPr/>
          <p:nvPr/>
        </p:nvSpPr>
        <p:spPr>
          <a:xfrm>
            <a:off x="6766560" y="2596896"/>
            <a:ext cx="256032" cy="411480"/>
          </a:xfrm>
          <a:prstGeom prst="chevron">
            <a:avLst/>
          </a:prstGeom>
          <a:solidFill>
            <a:srgbClr val="2D6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068312" y="2286000"/>
            <a:ext cx="1325880" cy="109728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44F"/>
                </a:solidFill>
              </a:defRPr>
            </a:pPr>
            <a:r>
              <a:t>SQLite /</a:t>
            </a:r>
            <a:br/>
            <a:r>
              <a:t>PostgreSQL</a:t>
            </a:r>
          </a:p>
        </p:txBody>
      </p:sp>
      <p:sp>
        <p:nvSpPr>
          <p:cNvPr id="13" name="Chevron 12"/>
          <p:cNvSpPr/>
          <p:nvPr/>
        </p:nvSpPr>
        <p:spPr>
          <a:xfrm>
            <a:off x="8430768" y="2596896"/>
            <a:ext cx="256032" cy="411480"/>
          </a:xfrm>
          <a:prstGeom prst="chevron">
            <a:avLst/>
          </a:prstGeom>
          <a:solidFill>
            <a:srgbClr val="2D6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732519" y="2286000"/>
            <a:ext cx="1325880" cy="109728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44F"/>
                </a:solidFill>
              </a:defRPr>
            </a:pPr>
            <a:r>
              <a:t>Analytics</a:t>
            </a:r>
          </a:p>
        </p:txBody>
      </p:sp>
      <p:sp>
        <p:nvSpPr>
          <p:cNvPr id="15" name="Chevron 14"/>
          <p:cNvSpPr/>
          <p:nvPr/>
        </p:nvSpPr>
        <p:spPr>
          <a:xfrm>
            <a:off x="10094976" y="2596896"/>
            <a:ext cx="256032" cy="411480"/>
          </a:xfrm>
          <a:prstGeom prst="chevron">
            <a:avLst/>
          </a:prstGeom>
          <a:solidFill>
            <a:srgbClr val="2D6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96728" y="2286000"/>
            <a:ext cx="1325880" cy="1097280"/>
          </a:xfrm>
          <a:prstGeom prst="roundRect">
            <a:avLst/>
          </a:prstGeom>
          <a:solidFill>
            <a:srgbClr val="F1F5F8"/>
          </a:solidFill>
          <a:ln>
            <a:solidFill>
              <a:srgbClr val="2D63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9344F"/>
                </a:solidFill>
              </a:defRPr>
            </a:pPr>
            <a:r>
              <a:t>Power BI</a:t>
            </a:r>
            <a:br/>
            <a: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8620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300">
                <a:solidFill>
                  <a:srgbClr val="262A2E"/>
                </a:solidFill>
              </a:defRPr>
            </a:pPr>
            <a:r>
              <a:t>• Derived fields include daily returns, rolling averages and CAGR; AMFI codes and fund names are validated/normalised.</a:t>
            </a:r>
          </a:p>
          <a:p>
            <a:pPr>
              <a:spcAft>
                <a:spcPts val="1100"/>
              </a:spcAft>
              <a:defRPr sz="1300">
                <a:solidFill>
                  <a:srgbClr val="262A2E"/>
                </a:solidFill>
              </a:defRPr>
            </a:pPr>
            <a:r>
              <a:t>• Dashboard layer provides four report pages with slicers, KPIs, drill-through and tooltips.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EDA Highlights I</a:t>
            </a:r>
          </a:p>
          <a:p>
            <a:pPr>
              <a:defRPr sz="1000">
                <a:solidFill>
                  <a:srgbClr val="646E78"/>
                </a:solidFill>
              </a:defRPr>
            </a:pPr>
            <a:r>
              <a:t>NAV, AUM &amp; SIP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NAV trend analysis covers 40 schemes across 2022–2026 and is designed to highlight market recovery, rallies and corrections.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AUM growth is compared across 10 fund houses from 2022–2025; the project specification identifies SBI as a leading AMC in the dataset.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Monthly SIP inflows are tracked from January 2022 to December 2025, including the ₹31,002 crore December 2025 milestone.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Folio count analysis tracks growth from 13.26 crore to 26.12 crore.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EDA Highlights II</a:t>
            </a:r>
          </a:p>
          <a:p>
            <a:pPr>
              <a:defRPr sz="1000">
                <a:solidFill>
                  <a:srgbClr val="646E78"/>
                </a:solidFill>
              </a:defRPr>
            </a:pPr>
            <a:r>
              <a:t>Investor, category &amp; portfolio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Category-wise inflow heatmaps identify changing demand across fund categories.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Investor demographics examine age groups and average SIP amounts.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Geographic analysis compares SIP activity across states and T30 vs B30 city tiers.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Correlation analysis compares NAV-return behaviour across selected funds.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Portfolio analysis examines sector allocation and concentration.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Performance Metrics I</a:t>
            </a:r>
          </a:p>
          <a:p>
            <a:pPr>
              <a:defRPr sz="1000">
                <a:solidFill>
                  <a:srgbClr val="646E78"/>
                </a:solidFill>
              </a:defRPr>
            </a:pPr>
            <a:r>
              <a:t>Return &amp; risk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Daily return: NAV-based percentage change used as the foundation for performance analysis.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CAGR: calculated for 1-year, 3-year and 5-year periods.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Sharpe Ratio: evaluates excess return relative to total volatility; the project uses 6.5% as the risk-free-rate proxy.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Sortino Ratio: evaluates excess return using downside volatility only.</a:t>
            </a:r>
          </a:p>
          <a:p>
            <a:pPr>
              <a:spcAft>
                <a:spcPts val="1100"/>
              </a:spcAft>
              <a:defRPr sz="1600">
                <a:solidFill>
                  <a:srgbClr val="262A2E"/>
                </a:solidFill>
              </a:defRPr>
            </a:pPr>
            <a:r>
              <a:t>• Maximum Drawdown: identifies the worst peak-to-trough decline.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Performance Metrics II</a:t>
            </a:r>
          </a:p>
          <a:p>
            <a:pPr>
              <a:defRPr sz="1000">
                <a:solidFill>
                  <a:srgbClr val="646E78"/>
                </a:solidFill>
              </a:defRPr>
            </a:pPr>
            <a:r>
              <a:t>Benchmark &amp; composite fund 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Alpha and Beta are estimated against benchmark returns using regression.</a:t>
            </a:r>
          </a:p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Benchmark comparison includes Nifty 50, Nifty 100 and BSE SmallCap indices.</a:t>
            </a:r>
          </a:p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Composite Fund Score = 30% 3-year return + 25% Sharpe + 20% Alpha + 15% inverse expense-ratio rank + 10% inverse maximum-drawdown rank.</a:t>
            </a:r>
          </a:p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Advanced analysis includes VaR, CVaR, rolling Sharpe, investor cohorts, SIP continuity and sector concentration.</a:t>
            </a:r>
          </a:p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These metrics provide a broader basis for comparing funds than headline return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Dashboard Screenshot — Industry Overview</a:t>
            </a:r>
          </a:p>
        </p:txBody>
      </p:sp>
      <p:pic>
        <p:nvPicPr>
          <p:cNvPr id="4" name="Picture 3" descr="dashboard_pag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Dashboard Screenshot — Fund Performance</a:t>
            </a:r>
          </a:p>
        </p:txBody>
      </p:sp>
      <p:pic>
        <p:nvPicPr>
          <p:cNvPr id="4" name="Picture 3" descr="dashboard_pag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43000"/>
            <a:ext cx="1083564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106424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9344F"/>
                </a:solidFill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Mutual-fund AUM shows an increasing trend from 2022 to 2025.</a:t>
            </a:r>
          </a:p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SIP participation is significant, with ₹31,002 crore recorded in December 2025.</a:t>
            </a:r>
          </a:p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Major AMCs such as SBI, ICICI Prudential, HDFC and Nippon India have strong presence in the analysed universe.</a:t>
            </a:r>
          </a:p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Fund performance shows a clear risk–return trade-off: SBI Small Cap Fund records 23.39% 3-year return with 25% standard deviation, while SBI Magnum Gilt Fund records 6.07% with 4% standard deviation.</a:t>
            </a:r>
          </a:p>
          <a:p>
            <a:pPr>
              <a:spcAft>
                <a:spcPts val="1100"/>
              </a:spcAft>
              <a:defRPr sz="1500">
                <a:solidFill>
                  <a:srgbClr val="262A2E"/>
                </a:solidFill>
              </a:defRPr>
            </a:pPr>
            <a:r>
              <a:t>• Investor and category behaviour varies across states, age groups, transaction types and fund categories.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73952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6E78"/>
                </a:solidFill>
              </a:defRPr>
            </a:pPr>
            <a:r>
              <a:t>Bluestock Fintech | Mutual Fund Analytics |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34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48840"/>
            <a:ext cx="10332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D7E6F2"/>
                </a:solidFill>
              </a:defRPr>
            </a:pPr>
            <a:r>
              <a:t>Questions &amp; Discussion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Bluestock Mutual Fund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